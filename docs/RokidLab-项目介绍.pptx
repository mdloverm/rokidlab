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B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754880"/>
          </a:xfrm>
          <a:prstGeom prst="rect">
            <a:avLst/>
          </a:prstGeom>
          <a:solidFill>
            <a:srgbClr val="151518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10058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E85D3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RokidLab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731520" y="237744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4D0C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Rokid 眼镜配套手机应用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3200400"/>
            <a:ext cx="2743200" cy="54864"/>
          </a:xfrm>
          <a:prstGeom prst="rect">
            <a:avLst/>
          </a:prstGeom>
          <a:solidFill>
            <a:srgbClr val="5B8FB9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4747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应用商店 · 屏幕镜像 · 手机投屏 · 文件管理 · ADB工具 · 蓝牙手柄 · 设置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40233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95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v2.0  |  2026-07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566928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D7A7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作者: DLOVER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 / 14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B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828800"/>
          </a:xfrm>
          <a:prstGeom prst="rect">
            <a:avLst/>
          </a:prstGeom>
          <a:solidFill>
            <a:srgbClr val="E85D3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0B0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项目概述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9090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Project Overview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51518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2331720"/>
            <a:ext cx="228600" cy="228600"/>
          </a:xfrm>
          <a:prstGeom prst="ellipse">
            <a:avLst/>
          </a:prstGeom>
          <a:solidFill>
            <a:srgbClr val="E85D3F"/>
          </a:solidFill>
          <a:ln/>
        </p:spPr>
      </p:sp>
      <p:sp>
        <p:nvSpPr>
          <p:cNvPr id="7" name="Text 5"/>
          <p:cNvSpPr/>
          <p:nvPr/>
        </p:nvSpPr>
        <p:spPr>
          <a:xfrm>
            <a:off x="1188720" y="21945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EFE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应用商店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200400" y="21945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浏览、搜索、安装 Rokid 眼镜应用，多商店源切换，本地 APK 安装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2880360"/>
            <a:ext cx="228600" cy="228600"/>
          </a:xfrm>
          <a:prstGeom prst="ellipse">
            <a:avLst/>
          </a:prstGeom>
          <a:solidFill>
            <a:srgbClr val="5B8FB9"/>
          </a:solidFill>
          <a:ln/>
        </p:spPr>
      </p:sp>
      <p:sp>
        <p:nvSpPr>
          <p:cNvPr id="10" name="Text 8"/>
          <p:cNvSpPr/>
          <p:nvPr/>
        </p:nvSpPr>
        <p:spPr>
          <a:xfrm>
            <a:off x="1188720" y="27432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EFE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屏幕镜像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200400" y="2743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将眼镜屏幕实时显示在手机上，基于 scrcpy-server + H.264 硬件解码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3429000"/>
            <a:ext cx="228600" cy="228600"/>
          </a:xfrm>
          <a:prstGeom prst="ellipse">
            <a:avLst/>
          </a:prstGeom>
          <a:solidFill>
            <a:srgbClr val="D4A85C"/>
          </a:solidFill>
          <a:ln/>
        </p:spPr>
      </p:sp>
      <p:sp>
        <p:nvSpPr>
          <p:cNvPr id="13" name="Text 11"/>
          <p:cNvSpPr/>
          <p:nvPr/>
        </p:nvSpPr>
        <p:spPr>
          <a:xfrm>
            <a:off x="1188720" y="32918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EFE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手机投屏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200400" y="3291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将手机屏幕投射到眼镜，MediaProjection + Socket 传输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3977640"/>
            <a:ext cx="228600" cy="22860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6" name="Text 14"/>
          <p:cNvSpPr/>
          <p:nvPr/>
        </p:nvSpPr>
        <p:spPr>
          <a:xfrm>
            <a:off x="1188720" y="38404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EFE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文件管理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2004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通过 ADB 浏览、上传、下载、管理眼镜文件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31520" y="4526280"/>
            <a:ext cx="228600" cy="228600"/>
          </a:xfrm>
          <a:prstGeom prst="ellipse">
            <a:avLst/>
          </a:prstGeom>
          <a:solidFill>
            <a:srgbClr val="00CEC9"/>
          </a:solidFill>
          <a:ln/>
        </p:spPr>
      </p:sp>
      <p:sp>
        <p:nvSpPr>
          <p:cNvPr id="19" name="Text 17"/>
          <p:cNvSpPr/>
          <p:nvPr/>
        </p:nvSpPr>
        <p:spPr>
          <a:xfrm>
            <a:off x="1188720" y="43891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EFE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ADB 工具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3200400" y="43891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应用管理、定时消息/启动、系统信息、Shell 命令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31520" y="5074920"/>
            <a:ext cx="228600" cy="228600"/>
          </a:xfrm>
          <a:prstGeom prst="ellipse">
            <a:avLst/>
          </a:prstGeom>
          <a:solidFill>
            <a:srgbClr val="FD79A8"/>
          </a:solidFill>
          <a:ln/>
        </p:spPr>
      </p:sp>
      <p:sp>
        <p:nvSpPr>
          <p:cNvPr id="22" name="Text 20"/>
          <p:cNvSpPr/>
          <p:nvPr/>
        </p:nvSpPr>
        <p:spPr>
          <a:xfrm>
            <a:off x="1188720" y="49377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EFE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蓝牙手柄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3200400" y="4937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手机模拟键盘/鼠标/游戏手柄，蓝牙 HID 协议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31520" y="5623560"/>
            <a:ext cx="228600" cy="228600"/>
          </a:xfrm>
          <a:prstGeom prst="ellipse">
            <a:avLst/>
          </a:prstGeom>
          <a:solidFill>
            <a:srgbClr val="7D7A70"/>
          </a:solidFill>
          <a:ln/>
        </p:spPr>
      </p:sp>
      <p:sp>
        <p:nvSpPr>
          <p:cNvPr id="25" name="Text 23"/>
          <p:cNvSpPr/>
          <p:nvPr/>
        </p:nvSpPr>
        <p:spPr>
          <a:xfrm>
            <a:off x="1188720" y="54864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EFE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设置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3200400" y="54864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语言切换、眼镜服务管理、主题切换、日志面板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 / 14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B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828800"/>
          </a:xfrm>
          <a:prstGeom prst="rect">
            <a:avLst/>
          </a:prstGeom>
          <a:solidFill>
            <a:srgbClr val="5B8FB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0B0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技术栈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9090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Technology Stack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51518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2194560"/>
            <a:ext cx="2926080" cy="347472"/>
          </a:xfrm>
          <a:prstGeom prst="rect">
            <a:avLst>
              <a:gd name="adj" fmla="val 13158"/>
            </a:avLst>
          </a:prstGeom>
          <a:solidFill>
            <a:srgbClr val="24242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19456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8FB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语言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840480" y="2194560"/>
            <a:ext cx="7589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4D0C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Kotlin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2633472"/>
            <a:ext cx="2926080" cy="347472"/>
          </a:xfrm>
          <a:prstGeom prst="rect">
            <a:avLst>
              <a:gd name="adj" fmla="val 13158"/>
            </a:avLst>
          </a:prstGeom>
          <a:solidFill>
            <a:srgbClr val="24242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633472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8FB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UI 框架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840480" y="2633472"/>
            <a:ext cx="7589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4D0C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Jetpack Compose (Material 3)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1520" y="3072384"/>
            <a:ext cx="2926080" cy="347472"/>
          </a:xfrm>
          <a:prstGeom prst="rect">
            <a:avLst>
              <a:gd name="adj" fmla="val 13158"/>
            </a:avLst>
          </a:prstGeom>
          <a:solidFill>
            <a:srgbClr val="24242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3072384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8FB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字体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840480" y="3072384"/>
            <a:ext cx="7589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4D0C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JetBrains Mono（全站等宽）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31520" y="3511296"/>
            <a:ext cx="2926080" cy="347472"/>
          </a:xfrm>
          <a:prstGeom prst="rect">
            <a:avLst>
              <a:gd name="adj" fmla="val 13158"/>
            </a:avLst>
          </a:prstGeom>
          <a:solidFill>
            <a:srgbClr val="24242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3511296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8FB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设计系统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840480" y="3511296"/>
            <a:ext cx="7589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4D0C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双主题配色（丝绒炭黑 + 冰蓝冰川）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31520" y="3950208"/>
            <a:ext cx="2926080" cy="347472"/>
          </a:xfrm>
          <a:prstGeom prst="rect">
            <a:avLst>
              <a:gd name="adj" fmla="val 13158"/>
            </a:avLst>
          </a:prstGeom>
          <a:solidFill>
            <a:srgbClr val="24242A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3950208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8FB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眼镜通信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840480" y="3950208"/>
            <a:ext cx="7589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4D0C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CXR-L SDK (client-l) + CXR-S SDK (cxr-service-bridge)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1520" y="4389120"/>
            <a:ext cx="2926080" cy="347472"/>
          </a:xfrm>
          <a:prstGeom prst="rect">
            <a:avLst>
              <a:gd name="adj" fmla="val 13158"/>
            </a:avLst>
          </a:prstGeom>
          <a:solidFill>
            <a:srgbClr val="24242A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438912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8FB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ADB 协议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840480" y="4389120"/>
            <a:ext cx="7589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4D0C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自实现完整 ADB TCP 协议（不依赖 adb.exe）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31520" y="4828032"/>
            <a:ext cx="2926080" cy="347472"/>
          </a:xfrm>
          <a:prstGeom prst="rect">
            <a:avLst>
              <a:gd name="adj" fmla="val 13158"/>
            </a:avLst>
          </a:prstGeom>
          <a:solidFill>
            <a:srgbClr val="24242A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4828032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8FB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蓝牙 HID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840480" y="4828032"/>
            <a:ext cx="7589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4D0C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BluetoothHidDevice API，自定义报表描述符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731520" y="5266944"/>
            <a:ext cx="2926080" cy="347472"/>
          </a:xfrm>
          <a:prstGeom prst="rect">
            <a:avLst>
              <a:gd name="adj" fmla="val 13158"/>
            </a:avLst>
          </a:prstGeom>
          <a:solidFill>
            <a:srgbClr val="24242A"/>
          </a:solidFill>
          <a:ln/>
        </p:spPr>
      </p:sp>
      <p:sp>
        <p:nvSpPr>
          <p:cNvPr id="28" name="Text 26"/>
          <p:cNvSpPr/>
          <p:nvPr/>
        </p:nvSpPr>
        <p:spPr>
          <a:xfrm>
            <a:off x="914400" y="5266944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8FB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投屏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840480" y="5266944"/>
            <a:ext cx="7589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4D0C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MediaProjection API + Socket 传输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731520" y="5705856"/>
            <a:ext cx="2926080" cy="347472"/>
          </a:xfrm>
          <a:prstGeom prst="rect">
            <a:avLst>
              <a:gd name="adj" fmla="val 13158"/>
            </a:avLst>
          </a:prstGeom>
          <a:solidFill>
            <a:srgbClr val="24242A"/>
          </a:solidFill>
          <a:ln/>
        </p:spPr>
      </p:sp>
      <p:sp>
        <p:nvSpPr>
          <p:cNvPr id="31" name="Text 29"/>
          <p:cNvSpPr/>
          <p:nvPr/>
        </p:nvSpPr>
        <p:spPr>
          <a:xfrm>
            <a:off x="914400" y="5705856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8FB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网络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840480" y="5705856"/>
            <a:ext cx="7589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4D0C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HttpClient 封装（替代 HttpURLConnection）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731520" y="6144768"/>
            <a:ext cx="2926080" cy="347472"/>
          </a:xfrm>
          <a:prstGeom prst="rect">
            <a:avLst>
              <a:gd name="adj" fmla="val 13158"/>
            </a:avLst>
          </a:prstGeom>
          <a:solidFill>
            <a:srgbClr val="24242A"/>
          </a:solidFill>
          <a:ln/>
        </p:spPr>
      </p:sp>
      <p:sp>
        <p:nvSpPr>
          <p:cNvPr id="34" name="Text 32"/>
          <p:cNvSpPr/>
          <p:nvPr/>
        </p:nvSpPr>
        <p:spPr>
          <a:xfrm>
            <a:off x="914400" y="6144768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8FB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本地化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3840480" y="6144768"/>
            <a:ext cx="75895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4D0C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Android 原生资源系统 + Crowdin 云端翻译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 / 14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B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828800"/>
          </a:xfrm>
          <a:prstGeom prst="rect">
            <a:avLst/>
          </a:prstGeom>
          <a:solidFill>
            <a:srgbClr val="D4A85C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0B0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项目架构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9090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Architecture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51518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2103120"/>
            <a:ext cx="5303520" cy="3840480"/>
          </a:xfrm>
          <a:prstGeom prst="roundRect">
            <a:avLst>
              <a:gd name="adj" fmla="val 3571"/>
            </a:avLst>
          </a:prstGeom>
          <a:solidFill>
            <a:srgbClr val="151518"/>
          </a:solidFill>
          <a:ln w="19050">
            <a:solidFill>
              <a:srgbClr val="E85D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945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5D3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手机端 (phone-app)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2697480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• UI: Jetpack Compose (StoreTheme + DesignComponents)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31520" y="3081528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• ADB: AdbShellClient / AdbFileManagerClient / AdbScreenMirrorClient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3465576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• HID: BluetoothHidManager + GamepadActivity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" y="3849624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• 投屏: PhoneMirrorService / PhoneMirrorActivity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31520" y="4233672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• 网络: HttpClient / ApkDownloader / IconLoader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31520" y="4617720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• 设置: LocalizationManager / BrewThemeManager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943600" y="274320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85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CXR-L SDK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943600" y="3291840"/>
            <a:ext cx="1371600" cy="274320"/>
          </a:xfrm>
          <a:prstGeom prst="rightArrow">
            <a:avLst/>
          </a:prstGeom>
          <a:solidFill>
            <a:srgbClr val="D4A85C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0" y="365760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ADB TCP (WiFi)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43600" y="4114800"/>
            <a:ext cx="1371600" cy="274320"/>
          </a:xfrm>
          <a:prstGeom prst="leftArrow">
            <a:avLst/>
          </a:prstGeom>
          <a:solidFill>
            <a:srgbClr val="8A8780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0" y="448056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蓝牙 HID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89520" y="2103120"/>
            <a:ext cx="4389120" cy="3840480"/>
          </a:xfrm>
          <a:prstGeom prst="roundRect">
            <a:avLst>
              <a:gd name="adj" fmla="val 3571"/>
            </a:avLst>
          </a:prstGeom>
          <a:solidFill>
            <a:srgbClr val="151518"/>
          </a:solidFill>
          <a:ln w="19050">
            <a:solidFill>
              <a:srgbClr val="5B8FB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0" y="219456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8FB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眼镜端 (RokidLink)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7772400" y="269748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• PhoneMirrorServer（Socket 投屏接收）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772400" y="3081528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• PhoneMirrorActivity（投屏画面渲染）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772400" y="3465576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• TextInputService（TCP 文字输入）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772400" y="3849624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• ScreenMirrorIntentActivity（scrcpy 中转）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772400" y="4233672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• MainActivity（WiFi/ADB 状态面板）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 / 14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B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828800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0B0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设计系统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9090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Design System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51518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210312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0B0B0E"/>
          </a:solidFill>
          <a:ln w="12700">
            <a:solidFill>
              <a:srgbClr val="2C2C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2860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EFE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丝绒炭黑 (Velvet Dark)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26517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2A09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画廊暗室 × 油画颜料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31520" y="3200400"/>
            <a:ext cx="502920" cy="502920"/>
          </a:xfrm>
          <a:prstGeom prst="roundRect">
            <a:avLst>
              <a:gd name="adj" fmla="val 9091"/>
            </a:avLst>
          </a:prstGeom>
          <a:solidFill>
            <a:srgbClr val="E85D3F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379476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A2A09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Store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1399032" y="3200400"/>
            <a:ext cx="502920" cy="502920"/>
          </a:xfrm>
          <a:prstGeom prst="roundRect">
            <a:avLst>
              <a:gd name="adj" fmla="val 9091"/>
            </a:avLst>
          </a:prstGeom>
          <a:solidFill>
            <a:srgbClr val="5B8FB9"/>
          </a:solidFill>
          <a:ln/>
        </p:spPr>
      </p:sp>
      <p:sp>
        <p:nvSpPr>
          <p:cNvPr id="12" name="Text 10"/>
          <p:cNvSpPr/>
          <p:nvPr/>
        </p:nvSpPr>
        <p:spPr>
          <a:xfrm>
            <a:off x="1399032" y="379476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A2A09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Mirror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066544" y="3200400"/>
            <a:ext cx="502920" cy="502920"/>
          </a:xfrm>
          <a:prstGeom prst="roundRect">
            <a:avLst>
              <a:gd name="adj" fmla="val 9091"/>
            </a:avLst>
          </a:prstGeom>
          <a:solidFill>
            <a:srgbClr val="D4A85C"/>
          </a:solidFill>
          <a:ln/>
        </p:spPr>
      </p:sp>
      <p:sp>
        <p:nvSpPr>
          <p:cNvPr id="14" name="Text 12"/>
          <p:cNvSpPr/>
          <p:nvPr/>
        </p:nvSpPr>
        <p:spPr>
          <a:xfrm>
            <a:off x="2066544" y="379476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A2A09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Projection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2734056" y="3200400"/>
            <a:ext cx="502920" cy="502920"/>
          </a:xfrm>
          <a:prstGeom prst="roundRect">
            <a:avLst>
              <a:gd name="adj" fmla="val 9091"/>
            </a:avLst>
          </a:prstGeom>
          <a:solidFill>
            <a:srgbClr val="A78BFA"/>
          </a:solidFill>
          <a:ln/>
        </p:spPr>
      </p:sp>
      <p:sp>
        <p:nvSpPr>
          <p:cNvPr id="16" name="Text 14"/>
          <p:cNvSpPr/>
          <p:nvPr/>
        </p:nvSpPr>
        <p:spPr>
          <a:xfrm>
            <a:off x="2734056" y="379476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A2A09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FileMgr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3401568" y="3200400"/>
            <a:ext cx="502920" cy="502920"/>
          </a:xfrm>
          <a:prstGeom prst="roundRect">
            <a:avLst>
              <a:gd name="adj" fmla="val 9091"/>
            </a:avLst>
          </a:prstGeom>
          <a:solidFill>
            <a:srgbClr val="00CEC9"/>
          </a:solidFill>
          <a:ln/>
        </p:spPr>
      </p:sp>
      <p:sp>
        <p:nvSpPr>
          <p:cNvPr id="18" name="Text 16"/>
          <p:cNvSpPr/>
          <p:nvPr/>
        </p:nvSpPr>
        <p:spPr>
          <a:xfrm>
            <a:off x="3401568" y="379476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A2A09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ADB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4069080" y="3200400"/>
            <a:ext cx="502920" cy="502920"/>
          </a:xfrm>
          <a:prstGeom prst="roundRect">
            <a:avLst>
              <a:gd name="adj" fmla="val 9091"/>
            </a:avLst>
          </a:prstGeom>
          <a:solidFill>
            <a:srgbClr val="FD79A8"/>
          </a:solidFill>
          <a:ln/>
        </p:spPr>
      </p:sp>
      <p:sp>
        <p:nvSpPr>
          <p:cNvPr id="20" name="Text 18"/>
          <p:cNvSpPr/>
          <p:nvPr/>
        </p:nvSpPr>
        <p:spPr>
          <a:xfrm>
            <a:off x="4069080" y="379476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A2A09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HID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4736592" y="3200400"/>
            <a:ext cx="502920" cy="502920"/>
          </a:xfrm>
          <a:prstGeom prst="roundRect">
            <a:avLst>
              <a:gd name="adj" fmla="val 9091"/>
            </a:avLst>
          </a:prstGeom>
          <a:solidFill>
            <a:srgbClr val="7D7A70"/>
          </a:solidFill>
          <a:ln/>
        </p:spPr>
      </p:sp>
      <p:sp>
        <p:nvSpPr>
          <p:cNvPr id="22" name="Text 20"/>
          <p:cNvSpPr/>
          <p:nvPr/>
        </p:nvSpPr>
        <p:spPr>
          <a:xfrm>
            <a:off x="4736592" y="379476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A2A09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Settings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731520" y="42062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07F7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共同规范：统一 12dp 圆角 · 1dp 边框 · 无硬阴影 · JetBrains Mono 等宽字体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31520" y="45720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07F7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BrewColors 接口定义 14 色 · 七模块七色撞色方案 · 设置中随时切换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217920" y="210312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0F5FF"/>
          </a:solidFill>
          <a:ln w="12700">
            <a:solidFill>
              <a:srgbClr val="2C2C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92240" y="22860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33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冰蓝冰川 (Cool Blue)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492240" y="26517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1172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北极冰川 × 浅蓝天光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92240" y="3200400"/>
            <a:ext cx="502920" cy="502920"/>
          </a:xfrm>
          <a:prstGeom prst="roundRect">
            <a:avLst>
              <a:gd name="adj" fmla="val 9091"/>
            </a:avLst>
          </a:prstGeom>
          <a:solidFill>
            <a:srgbClr val="E85D3F"/>
          </a:solidFill>
          <a:ln/>
        </p:spPr>
      </p:sp>
      <p:sp>
        <p:nvSpPr>
          <p:cNvPr id="29" name="Text 27"/>
          <p:cNvSpPr/>
          <p:nvPr/>
        </p:nvSpPr>
        <p:spPr>
          <a:xfrm>
            <a:off x="6492240" y="379476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1172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Store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7159752" y="3200400"/>
            <a:ext cx="502920" cy="502920"/>
          </a:xfrm>
          <a:prstGeom prst="roundRect">
            <a:avLst>
              <a:gd name="adj" fmla="val 9091"/>
            </a:avLst>
          </a:prstGeom>
          <a:solidFill>
            <a:srgbClr val="5B8FB9"/>
          </a:solidFill>
          <a:ln/>
        </p:spPr>
      </p:sp>
      <p:sp>
        <p:nvSpPr>
          <p:cNvPr id="31" name="Text 29"/>
          <p:cNvSpPr/>
          <p:nvPr/>
        </p:nvSpPr>
        <p:spPr>
          <a:xfrm>
            <a:off x="7159752" y="379476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1172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Mirror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7827264" y="3200400"/>
            <a:ext cx="502920" cy="502920"/>
          </a:xfrm>
          <a:prstGeom prst="roundRect">
            <a:avLst>
              <a:gd name="adj" fmla="val 9091"/>
            </a:avLst>
          </a:prstGeom>
          <a:solidFill>
            <a:srgbClr val="D4A85C"/>
          </a:solidFill>
          <a:ln/>
        </p:spPr>
      </p:sp>
      <p:sp>
        <p:nvSpPr>
          <p:cNvPr id="33" name="Text 31"/>
          <p:cNvSpPr/>
          <p:nvPr/>
        </p:nvSpPr>
        <p:spPr>
          <a:xfrm>
            <a:off x="7827264" y="379476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1172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Projection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8494776" y="3200400"/>
            <a:ext cx="502920" cy="502920"/>
          </a:xfrm>
          <a:prstGeom prst="roundRect">
            <a:avLst>
              <a:gd name="adj" fmla="val 9091"/>
            </a:avLst>
          </a:prstGeom>
          <a:solidFill>
            <a:srgbClr val="A78BFA"/>
          </a:solidFill>
          <a:ln/>
        </p:spPr>
      </p:sp>
      <p:sp>
        <p:nvSpPr>
          <p:cNvPr id="35" name="Text 33"/>
          <p:cNvSpPr/>
          <p:nvPr/>
        </p:nvSpPr>
        <p:spPr>
          <a:xfrm>
            <a:off x="8494776" y="379476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1172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FileMgr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9162288" y="3200400"/>
            <a:ext cx="502920" cy="502920"/>
          </a:xfrm>
          <a:prstGeom prst="roundRect">
            <a:avLst>
              <a:gd name="adj" fmla="val 9091"/>
            </a:avLst>
          </a:prstGeom>
          <a:solidFill>
            <a:srgbClr val="00CEC9"/>
          </a:solidFill>
          <a:ln/>
        </p:spPr>
      </p:sp>
      <p:sp>
        <p:nvSpPr>
          <p:cNvPr id="37" name="Text 35"/>
          <p:cNvSpPr/>
          <p:nvPr/>
        </p:nvSpPr>
        <p:spPr>
          <a:xfrm>
            <a:off x="9162288" y="379476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1172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ADB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9829800" y="3200400"/>
            <a:ext cx="502920" cy="502920"/>
          </a:xfrm>
          <a:prstGeom prst="roundRect">
            <a:avLst>
              <a:gd name="adj" fmla="val 9091"/>
            </a:avLst>
          </a:prstGeom>
          <a:solidFill>
            <a:srgbClr val="FD79A8"/>
          </a:solidFill>
          <a:ln/>
        </p:spPr>
      </p:sp>
      <p:sp>
        <p:nvSpPr>
          <p:cNvPr id="39" name="Text 37"/>
          <p:cNvSpPr/>
          <p:nvPr/>
        </p:nvSpPr>
        <p:spPr>
          <a:xfrm>
            <a:off x="9829800" y="379476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1172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HID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10497312" y="3200400"/>
            <a:ext cx="502920" cy="502920"/>
          </a:xfrm>
          <a:prstGeom prst="roundRect">
            <a:avLst>
              <a:gd name="adj" fmla="val 9091"/>
            </a:avLst>
          </a:prstGeom>
          <a:solidFill>
            <a:srgbClr val="7D7A70"/>
          </a:solidFill>
          <a:ln/>
        </p:spPr>
      </p:sp>
      <p:sp>
        <p:nvSpPr>
          <p:cNvPr id="41" name="Text 39"/>
          <p:cNvSpPr/>
          <p:nvPr/>
        </p:nvSpPr>
        <p:spPr>
          <a:xfrm>
            <a:off x="10497312" y="3794760"/>
            <a:ext cx="502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11172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Settings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6492240" y="42062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31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共同规范：统一 12dp 圆角 · 1dp 边框 · 无硬阴影 · JetBrains Mono 等宽字体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492240" y="45720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E131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BrewColors 接口定义 14 色 · 七模块七色撞色方案 · 设置中随时切换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 / 14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B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828800"/>
          </a:xfrm>
          <a:prstGeom prst="rect">
            <a:avLst/>
          </a:prstGeom>
          <a:solidFill>
            <a:srgbClr val="E85D3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0B0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应用商店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9090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App Store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51518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2194560"/>
            <a:ext cx="10515600" cy="438912"/>
          </a:xfrm>
          <a:prstGeom prst="roundRect">
            <a:avLst>
              <a:gd name="adj" fmla="val 10417"/>
            </a:avLst>
          </a:prstGeom>
          <a:solidFill>
            <a:srgbClr val="24242A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2194560"/>
            <a:ext cx="2560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5D3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浏览搜索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657600" y="2194560"/>
            <a:ext cx="7315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4D0C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浏览 Rokid 眼镜应用，支持搜索过滤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2724912"/>
            <a:ext cx="10515600" cy="438912"/>
          </a:xfrm>
          <a:prstGeom prst="roundRect">
            <a:avLst>
              <a:gd name="adj" fmla="val 10417"/>
            </a:avLst>
          </a:prstGeom>
          <a:solidFill>
            <a:srgbClr val="24242A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2724912"/>
            <a:ext cx="2560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5D3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多源切换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657600" y="2724912"/>
            <a:ext cx="7315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4D0C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Gitee / GitHub 双商店源，对应图标标识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3255264"/>
            <a:ext cx="10515600" cy="438912"/>
          </a:xfrm>
          <a:prstGeom prst="roundRect">
            <a:avLst>
              <a:gd name="adj" fmla="val 10417"/>
            </a:avLst>
          </a:prstGeom>
          <a:solidFill>
            <a:srgbClr val="24242A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3255264"/>
            <a:ext cx="2560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5D3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下拉刷新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657600" y="3255264"/>
            <a:ext cx="7315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4D0C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手动获取最新应用列表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3785616"/>
            <a:ext cx="10515600" cy="438912"/>
          </a:xfrm>
          <a:prstGeom prst="roundRect">
            <a:avLst>
              <a:gd name="adj" fmla="val 10417"/>
            </a:avLst>
          </a:prstGeom>
          <a:solidFill>
            <a:srgbClr val="24242A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" y="3785616"/>
            <a:ext cx="2560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5D3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精选横向滑动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657600" y="3785616"/>
            <a:ext cx="7315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4D0C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精选应用横向滑动展示全部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31520" y="4315968"/>
            <a:ext cx="10515600" cy="438912"/>
          </a:xfrm>
          <a:prstGeom prst="roundRect">
            <a:avLst>
              <a:gd name="adj" fmla="val 10417"/>
            </a:avLst>
          </a:prstGeom>
          <a:solidFill>
            <a:srgbClr val="24242A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4315968"/>
            <a:ext cx="2560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5D3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分类标签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657600" y="4315968"/>
            <a:ext cx="7315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4D0C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22 种分类，支持中英文本地化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31520" y="4846320"/>
            <a:ext cx="10515600" cy="438912"/>
          </a:xfrm>
          <a:prstGeom prst="roundRect">
            <a:avLst>
              <a:gd name="adj" fmla="val 10417"/>
            </a:avLst>
          </a:prstGeom>
          <a:solidFill>
            <a:srgbClr val="24242A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4846320"/>
            <a:ext cx="2560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5D3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本地 APK 安装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657600" y="4846320"/>
            <a:ext cx="7315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4D0C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从文件管理器选择 APK 安装到眼镜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31520" y="5376672"/>
            <a:ext cx="10515600" cy="438912"/>
          </a:xfrm>
          <a:prstGeom prst="roundRect">
            <a:avLst>
              <a:gd name="adj" fmla="val 10417"/>
            </a:avLst>
          </a:prstGeom>
          <a:solidFill>
            <a:srgbClr val="24242A"/>
          </a:solidFill>
          <a:ln/>
        </p:spPr>
      </p:sp>
      <p:sp>
        <p:nvSpPr>
          <p:cNvPr id="25" name="Text 23"/>
          <p:cNvSpPr/>
          <p:nvPr/>
        </p:nvSpPr>
        <p:spPr>
          <a:xfrm>
            <a:off x="1005840" y="5376672"/>
            <a:ext cx="25603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5D3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应用详情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657600" y="5376672"/>
            <a:ext cx="73152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4D0C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来源标识、截图、版本信息、更新日志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6 / 14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B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828800"/>
          </a:xfrm>
          <a:prstGeom prst="rect">
            <a:avLst/>
          </a:prstGeom>
          <a:solidFill>
            <a:srgbClr val="5B8FB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0B0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屏幕镜像 &amp; 手机投屏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9090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Screen Mirror &amp; Phone Cast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51518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2103120"/>
            <a:ext cx="5486400" cy="3840480"/>
          </a:xfrm>
          <a:prstGeom prst="roundRect">
            <a:avLst>
              <a:gd name="adj" fmla="val 2857"/>
            </a:avLst>
          </a:prstGeom>
          <a:solidFill>
            <a:srgbClr val="151518"/>
          </a:solidFill>
          <a:ln w="12700">
            <a:solidFill>
              <a:srgbClr val="5B8FB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2402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8FB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屏幕镜像 (Mirror)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6060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眼镜 → 手机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297180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• 基于 scrcpy-server 获取 H.264 硬件编码流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3300984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• ADB tunnel_forward 建立转发通道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" y="3630168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• 手机端 MediaCodec 零拷贝解码渲染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31520" y="3959352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• 首次连接自动推送 scrcpy-server.jar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31520" y="4288536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• 支持缩放、双指平移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20" y="461772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• ADB TCP 断线自动重连（最多 3 次）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31520" y="4946904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• 灰度转换使用整数运算 + 缓冲区复用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17920" y="2103120"/>
            <a:ext cx="5486400" cy="3840480"/>
          </a:xfrm>
          <a:prstGeom prst="roundRect">
            <a:avLst>
              <a:gd name="adj" fmla="val 2857"/>
            </a:avLst>
          </a:prstGeom>
          <a:solidFill>
            <a:srgbClr val="151518"/>
          </a:solidFill>
          <a:ln w="12700">
            <a:solidFill>
              <a:srgbClr val="D4A85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92240" y="22402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4A85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手机投屏 (Cast)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492240" y="26060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手机 → 眼镜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92240" y="297180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• 基于 CXR-L SDK + MediaProjection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92240" y="3300984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• Socket 传屏协议（方向+宽高+灰度数据）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92240" y="3630168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• 帧健康看门狗（30s 无帧自动恢复）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92240" y="3959352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• ImageReader 自恢复（方向切换不中断）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92240" y="4288536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• Socket 无限重连（独立线程池）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92240" y="461772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• 全品牌兼容（华为/小米/OPPO/vivo 黑屏修复）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492240" y="4946904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• 悬浮窗权限弹窗「不再提示」选项（v1.7）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7 / 14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B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828800"/>
          </a:xfrm>
          <a:prstGeom prst="rect">
            <a:avLst/>
          </a:prstGeom>
          <a:solidFill>
            <a:srgbClr val="00CEC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0B0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ADB 自实现协议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9090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Custom ADB over TCP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51518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2194560"/>
            <a:ext cx="10515600" cy="402336"/>
          </a:xfrm>
          <a:prstGeom prst="roundRect">
            <a:avLst>
              <a:gd name="adj" fmla="val 11364"/>
            </a:avLst>
          </a:prstGeom>
          <a:solidFill>
            <a:srgbClr val="24242A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2194560"/>
            <a:ext cx="10058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EFE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▶ TCP Socket 直连眼镜 ADB 端口（5555），无需 adb.exe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2670048"/>
            <a:ext cx="10515600" cy="402336"/>
          </a:xfrm>
          <a:prstGeom prst="roundRect">
            <a:avLst>
              <a:gd name="adj" fmla="val 11364"/>
            </a:avLst>
          </a:prstGeom>
          <a:solidFill>
            <a:srgbClr val="24242A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2670048"/>
            <a:ext cx="10058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EFE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▶ RSA 密钥认证：AUTH/SIGNATURE/RSA_PUBLIC 握手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31520" y="3145536"/>
            <a:ext cx="10515600" cy="402336"/>
          </a:xfrm>
          <a:prstGeom prst="roundRect">
            <a:avLst>
              <a:gd name="adj" fmla="val 11364"/>
            </a:avLst>
          </a:prstGeom>
          <a:solidFill>
            <a:srgbClr val="24242A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3145536"/>
            <a:ext cx="10058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EFE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▶ Shell service：执行远程 shell 命令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3621024"/>
            <a:ext cx="10515600" cy="402336"/>
          </a:xfrm>
          <a:prstGeom prst="roundRect">
            <a:avLst>
              <a:gd name="adj" fmla="val 11364"/>
            </a:avLst>
          </a:prstGeom>
          <a:solidFill>
            <a:srgbClr val="24242A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3621024"/>
            <a:ext cx="10058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EFE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▶ Sync 协议：RECV/SEND/DATA/DONE 文件上传下载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4096512"/>
            <a:ext cx="10515600" cy="402336"/>
          </a:xfrm>
          <a:prstGeom prst="roundRect">
            <a:avLst>
              <a:gd name="adj" fmla="val 11364"/>
            </a:avLst>
          </a:prstGeom>
          <a:solidFill>
            <a:srgbClr val="24242A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4096512"/>
            <a:ext cx="10058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EFE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▶ 应用管理：启动/卸载/冻结/提取 APK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31520" y="4572000"/>
            <a:ext cx="10515600" cy="402336"/>
          </a:xfrm>
          <a:prstGeom prst="roundRect">
            <a:avLst>
              <a:gd name="adj" fmla="val 11364"/>
            </a:avLst>
          </a:prstGeom>
          <a:solidFill>
            <a:srgbClr val="24242A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4572000"/>
            <a:ext cx="10058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EFE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▶ 定时功能：定时消息推送 + 定时打开应用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31520" y="5047488"/>
            <a:ext cx="10515600" cy="402336"/>
          </a:xfrm>
          <a:prstGeom prst="roundRect">
            <a:avLst>
              <a:gd name="adj" fmla="val 11364"/>
            </a:avLst>
          </a:prstGeom>
          <a:solidFill>
            <a:srgbClr val="24242A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5047488"/>
            <a:ext cx="10058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EFE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▶ 系统信息：设备属性、存储、电量查询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31520" y="5522976"/>
            <a:ext cx="10515600" cy="402336"/>
          </a:xfrm>
          <a:prstGeom prst="roundRect">
            <a:avLst>
              <a:gd name="adj" fmla="val 11364"/>
            </a:avLst>
          </a:prstGeom>
          <a:solidFill>
            <a:srgbClr val="24242A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5522976"/>
            <a:ext cx="10058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EFE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▶ ReentrantLock 串行化多协程并发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31520" y="5998464"/>
            <a:ext cx="10515600" cy="402336"/>
          </a:xfrm>
          <a:prstGeom prst="roundRect">
            <a:avLst>
              <a:gd name="adj" fmla="val 11364"/>
            </a:avLst>
          </a:prstGeom>
          <a:solidFill>
            <a:srgbClr val="24242A"/>
          </a:solidFill>
          <a:ln/>
        </p:spPr>
      </p:sp>
      <p:sp>
        <p:nvSpPr>
          <p:cNvPr id="23" name="Text 21"/>
          <p:cNvSpPr/>
          <p:nvPr/>
        </p:nvSpPr>
        <p:spPr>
          <a:xfrm>
            <a:off x="1005840" y="5998464"/>
            <a:ext cx="100584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EFE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▶ AdbPasteCompat：ADB 原始协议粘贴工具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 / 14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B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828800"/>
          </a:xfrm>
          <a:prstGeom prst="rect">
            <a:avLst/>
          </a:prstGeom>
          <a:solidFill>
            <a:srgbClr val="FD79A8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0B0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蓝牙 HID 手柄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9090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Bluetooth HID Gamepad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51518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2103120"/>
            <a:ext cx="5303520" cy="3931920"/>
          </a:xfrm>
          <a:prstGeom prst="roundRect">
            <a:avLst>
              <a:gd name="adj" fmla="val 2791"/>
            </a:avLst>
          </a:prstGeom>
          <a:solidFill>
            <a:srgbClr val="151518"/>
          </a:solidFill>
          <a:ln w="12700">
            <a:solidFill>
              <a:srgbClr val="FD79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2402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D79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HID 架构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2697480"/>
            <a:ext cx="4846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• Android BluetoothHidDevice API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3044952"/>
            <a:ext cx="4846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• 3 个 Report ID：Consumer / Keyboard / Mouse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3392424"/>
            <a:ext cx="4846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• 方向键走 Consumer Control 通道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3739896"/>
            <a:ext cx="4846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• 功能键走 Keyboard 通道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4087368"/>
            <a:ext cx="4846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• 鼠标模式：触控板 → 相对位移报表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4434840"/>
            <a:ext cx="4846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• 智能重连：递增等待（3s~15s）×5 次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4782312"/>
            <a:ext cx="4846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• 安全退出：先 disconnect 再 unregister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103120"/>
            <a:ext cx="5303520" cy="3931920"/>
          </a:xfrm>
          <a:prstGeom prst="roundRect">
            <a:avLst>
              <a:gd name="adj" fmla="val 2791"/>
            </a:avLst>
          </a:prstGeom>
          <a:solidFill>
            <a:srgbClr val="151518"/>
          </a:solidFill>
          <a:ln w="12700">
            <a:solidFill>
              <a:srgbClr val="5B8FB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22402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8FB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键盘输入三层方案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492240" y="2697480"/>
            <a:ext cx="4754880" cy="411480"/>
          </a:xfrm>
          <a:prstGeom prst="roundRect">
            <a:avLst>
              <a:gd name="adj" fmla="val 11111"/>
            </a:avLst>
          </a:prstGeom>
          <a:solidFill>
            <a:srgbClr val="24242A"/>
          </a:solidFill>
          <a:ln/>
        </p:spPr>
      </p:sp>
      <p:sp>
        <p:nvSpPr>
          <p:cNvPr id="18" name="Text 16"/>
          <p:cNvSpPr/>
          <p:nvPr/>
        </p:nvSpPr>
        <p:spPr>
          <a:xfrm>
            <a:off x="6675120" y="269748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8FB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① TCP 直连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503920" y="269748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D0C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TextInputService → 剪贴板 → paste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92240" y="3200400"/>
            <a:ext cx="4754880" cy="411480"/>
          </a:xfrm>
          <a:prstGeom prst="roundRect">
            <a:avLst>
              <a:gd name="adj" fmla="val 11111"/>
            </a:avLst>
          </a:prstGeom>
          <a:solidFill>
            <a:srgbClr val="24242A"/>
          </a:solidFill>
          <a:ln/>
        </p:spPr>
      </p:sp>
      <p:sp>
        <p:nvSpPr>
          <p:cNvPr id="21" name="Text 19"/>
          <p:cNvSpPr/>
          <p:nvPr/>
        </p:nvSpPr>
        <p:spPr>
          <a:xfrm>
            <a:off x="6675120" y="320040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8FB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② ADB 原始协议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503920" y="320040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D0C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TCP 连接 5555 → shell input paste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92240" y="3703320"/>
            <a:ext cx="4754880" cy="411480"/>
          </a:xfrm>
          <a:prstGeom prst="roundRect">
            <a:avLst>
              <a:gd name="adj" fmla="val 11111"/>
            </a:avLst>
          </a:prstGeom>
          <a:solidFill>
            <a:srgbClr val="24242A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370332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8FB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③ HID Ctrl+V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503920" y="370332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D0C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BluetoothHidDevice.sendReport() 兜底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92240" y="429768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三层依次尝试，前一种失败自动降级，始终确保文字能送达眼镜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492240" y="46634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自动从 phoneMirrorIp 获取眼镜 IP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9 / 14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B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828800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0B0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文件管理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9090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File Manager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51518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2194560"/>
            <a:ext cx="10515600" cy="438912"/>
          </a:xfrm>
          <a:prstGeom prst="roundRect">
            <a:avLst>
              <a:gd name="adj" fmla="val 10417"/>
            </a:avLst>
          </a:prstGeom>
          <a:solidFill>
            <a:srgbClr val="24242A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2194560"/>
            <a:ext cx="10058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EFE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📁 通过 ADB sync 协议浏览和管理眼镜文件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2724912"/>
            <a:ext cx="10515600" cy="438912"/>
          </a:xfrm>
          <a:prstGeom prst="roundRect">
            <a:avLst>
              <a:gd name="adj" fmla="val 10417"/>
            </a:avLst>
          </a:prstGeom>
          <a:solidFill>
            <a:srgbClr val="24242A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2724912"/>
            <a:ext cx="10058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EFE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📁 上传/下载/删除/重命名/新建文件夹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31520" y="3255264"/>
            <a:ext cx="10515600" cy="438912"/>
          </a:xfrm>
          <a:prstGeom prst="roundRect">
            <a:avLst>
              <a:gd name="adj" fmla="val 10417"/>
            </a:avLst>
          </a:prstGeom>
          <a:solidFill>
            <a:srgbClr val="24242A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3255264"/>
            <a:ext cx="10058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EFE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📁 复制/剪切/粘贴操作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3785616"/>
            <a:ext cx="10515600" cy="438912"/>
          </a:xfrm>
          <a:prstGeom prst="roundRect">
            <a:avLst>
              <a:gd name="adj" fmla="val 10417"/>
            </a:avLst>
          </a:prstGeom>
          <a:solidFill>
            <a:srgbClr val="24242A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3785616"/>
            <a:ext cx="10058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EFE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📁 图片预览 + 文本查看（shell cat / 本地缓存）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4315968"/>
            <a:ext cx="10515600" cy="438912"/>
          </a:xfrm>
          <a:prstGeom prst="roundRect">
            <a:avLst>
              <a:gd name="adj" fmla="val 10417"/>
            </a:avLst>
          </a:prstGeom>
          <a:solidFill>
            <a:srgbClr val="24242A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4315968"/>
            <a:ext cx="10058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EFE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📁 APK 安装：直接从文件管理器安装到眼镜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31520" y="4846320"/>
            <a:ext cx="10515600" cy="438912"/>
          </a:xfrm>
          <a:prstGeom prst="roundRect">
            <a:avLst>
              <a:gd name="adj" fmla="val 10417"/>
            </a:avLst>
          </a:prstGeom>
          <a:solidFill>
            <a:srgbClr val="24242A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4846320"/>
            <a:ext cx="10058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EFE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📁 排序：按名称/大小/日期，升序/降序切换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31520" y="5376672"/>
            <a:ext cx="10515600" cy="438912"/>
          </a:xfrm>
          <a:prstGeom prst="roundRect">
            <a:avLst>
              <a:gd name="adj" fmla="val 10417"/>
            </a:avLst>
          </a:prstGeom>
          <a:solidFill>
            <a:srgbClr val="24242A"/>
          </a:solidFill>
          <a:ln/>
        </p:spPr>
      </p:sp>
      <p:sp>
        <p:nvSpPr>
          <p:cNvPr id="19" name="Text 17"/>
          <p:cNvSpPr/>
          <p:nvPr/>
        </p:nvSpPr>
        <p:spPr>
          <a:xfrm>
            <a:off x="1005840" y="5376672"/>
            <a:ext cx="100584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EFE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📁 中文目录上传超时问题修复（v1.7）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 / 14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B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828800"/>
          </a:xfrm>
          <a:prstGeom prst="rect">
            <a:avLst/>
          </a:prstGeom>
          <a:solidFill>
            <a:srgbClr val="D4A85C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0B0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全品牌兼容性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9090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Cross-brand Compatibility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51518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2194560"/>
            <a:ext cx="10515600" cy="475488"/>
          </a:xfrm>
          <a:prstGeom prst="roundRect">
            <a:avLst>
              <a:gd name="adj" fmla="val 9615"/>
            </a:avLst>
          </a:prstGeom>
          <a:solidFill>
            <a:srgbClr val="151518"/>
          </a:solidFill>
          <a:ln w="19050">
            <a:solidFill>
              <a:srgbClr val="E85D3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2194560"/>
            <a:ext cx="73152" cy="475488"/>
          </a:xfrm>
          <a:prstGeom prst="roundRect">
            <a:avLst/>
          </a:prstGeom>
          <a:solidFill>
            <a:srgbClr val="E85D3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194560"/>
            <a:ext cx="32004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EFE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华为 EMUI 12+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389120" y="2194560"/>
            <a:ext cx="6675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投屏黑屏自动修复（HWC 禁用 + 软件渲染强制）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31520" y="2761488"/>
            <a:ext cx="10515600" cy="475488"/>
          </a:xfrm>
          <a:prstGeom prst="roundRect">
            <a:avLst>
              <a:gd name="adj" fmla="val 9615"/>
            </a:avLst>
          </a:prstGeom>
          <a:solidFill>
            <a:srgbClr val="151518"/>
          </a:solidFill>
          <a:ln w="19050">
            <a:solidFill>
              <a:srgbClr val="FF6B3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2761488"/>
            <a:ext cx="73152" cy="475488"/>
          </a:xfrm>
          <a:prstGeom prst="roundRect">
            <a:avLst/>
          </a:prstGeom>
          <a:solidFill>
            <a:srgbClr val="FF6B35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2761488"/>
            <a:ext cx="32004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EFE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小米 MIUI 14+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389120" y="2761488"/>
            <a:ext cx="6675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投屏黑屏自动修复 + 后台保活引导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1520" y="3328416"/>
            <a:ext cx="10515600" cy="475488"/>
          </a:xfrm>
          <a:prstGeom prst="roundRect">
            <a:avLst>
              <a:gd name="adj" fmla="val 9615"/>
            </a:avLst>
          </a:prstGeom>
          <a:solidFill>
            <a:srgbClr val="151518"/>
          </a:solidFill>
          <a:ln w="19050">
            <a:solidFill>
              <a:srgbClr val="00A98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3328416"/>
            <a:ext cx="73152" cy="475488"/>
          </a:xfrm>
          <a:prstGeom prst="roundRect">
            <a:avLst/>
          </a:prstGeom>
          <a:solidFill>
            <a:srgbClr val="00A98F"/>
          </a:solidFill>
          <a:ln/>
        </p:spPr>
      </p:sp>
      <p:sp>
        <p:nvSpPr>
          <p:cNvPr id="16" name="Text 14"/>
          <p:cNvSpPr/>
          <p:nvPr/>
        </p:nvSpPr>
        <p:spPr>
          <a:xfrm>
            <a:off x="1097280" y="3328416"/>
            <a:ext cx="32004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EFE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OPPO ColorOS 13+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389120" y="3328416"/>
            <a:ext cx="6675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投屏黑屏修复 + 悬浮窗权限自动检测引导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31520" y="3895344"/>
            <a:ext cx="10515600" cy="475488"/>
          </a:xfrm>
          <a:prstGeom prst="roundRect">
            <a:avLst>
              <a:gd name="adj" fmla="val 9615"/>
            </a:avLst>
          </a:prstGeom>
          <a:solidFill>
            <a:srgbClr val="151518"/>
          </a:solidFill>
          <a:ln w="19050">
            <a:solidFill>
              <a:srgbClr val="415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1520" y="3895344"/>
            <a:ext cx="73152" cy="475488"/>
          </a:xfrm>
          <a:prstGeom prst="roundRect">
            <a:avLst/>
          </a:prstGeom>
          <a:solidFill>
            <a:srgbClr val="415FFF"/>
          </a:solidFill>
          <a:ln/>
        </p:spPr>
      </p:sp>
      <p:sp>
        <p:nvSpPr>
          <p:cNvPr id="20" name="Text 18"/>
          <p:cNvSpPr/>
          <p:nvPr/>
        </p:nvSpPr>
        <p:spPr>
          <a:xfrm>
            <a:off x="1097280" y="3895344"/>
            <a:ext cx="32004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EFE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vivo Funtouch OS 13+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89120" y="3895344"/>
            <a:ext cx="6675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投屏黑屏修复 + 10 分钟后台硬限制提示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31520" y="4462272"/>
            <a:ext cx="10515600" cy="475488"/>
          </a:xfrm>
          <a:prstGeom prst="roundRect">
            <a:avLst>
              <a:gd name="adj" fmla="val 9615"/>
            </a:avLst>
          </a:prstGeom>
          <a:solidFill>
            <a:srgbClr val="151518"/>
          </a:solidFill>
          <a:ln w="19050">
            <a:solidFill>
              <a:srgbClr val="8B5CF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31520" y="4462272"/>
            <a:ext cx="73152" cy="475488"/>
          </a:xfrm>
          <a:prstGeom prst="roundRect">
            <a:avLst/>
          </a:prstGeom>
          <a:solidFill>
            <a:srgbClr val="8B5CF6"/>
          </a:solidFill>
          <a:ln/>
        </p:spPr>
      </p:sp>
      <p:sp>
        <p:nvSpPr>
          <p:cNvPr id="24" name="Text 22"/>
          <p:cNvSpPr/>
          <p:nvPr/>
        </p:nvSpPr>
        <p:spPr>
          <a:xfrm>
            <a:off x="1097280" y="4462272"/>
            <a:ext cx="32004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EFE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联发科/麒麟芯片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389120" y="4462272"/>
            <a:ext cx="6675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自动降级投屏分辨率，编码器回退到 OMX.google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1520" y="5029200"/>
            <a:ext cx="10515600" cy="475488"/>
          </a:xfrm>
          <a:prstGeom prst="roundRect">
            <a:avLst>
              <a:gd name="adj" fmla="val 9615"/>
            </a:avLst>
          </a:prstGeom>
          <a:solidFill>
            <a:srgbClr val="151518"/>
          </a:solidFill>
          <a:ln w="19050">
            <a:solidFill>
              <a:srgbClr val="1428A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31520" y="5029200"/>
            <a:ext cx="73152" cy="475488"/>
          </a:xfrm>
          <a:prstGeom prst="roundRect">
            <a:avLst/>
          </a:prstGeom>
          <a:solidFill>
            <a:srgbClr val="1428A0"/>
          </a:solidFill>
          <a:ln/>
        </p:spPr>
      </p:sp>
      <p:sp>
        <p:nvSpPr>
          <p:cNvPr id="28" name="Text 26"/>
          <p:cNvSpPr/>
          <p:nvPr/>
        </p:nvSpPr>
        <p:spPr>
          <a:xfrm>
            <a:off x="1097280" y="5029200"/>
            <a:ext cx="32004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EFE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三星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389120" y="5029200"/>
            <a:ext cx="6675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Deep Sleep 检测，避免前台服务超 15 分钟降权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731520" y="5596128"/>
            <a:ext cx="10515600" cy="475488"/>
          </a:xfrm>
          <a:prstGeom prst="roundRect">
            <a:avLst>
              <a:gd name="adj" fmla="val 9615"/>
            </a:avLst>
          </a:prstGeom>
          <a:solidFill>
            <a:srgbClr val="151518"/>
          </a:solidFill>
          <a:ln w="19050">
            <a:solidFill>
              <a:srgbClr val="00CEC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31520" y="5596128"/>
            <a:ext cx="73152" cy="475488"/>
          </a:xfrm>
          <a:prstGeom prst="roundRect">
            <a:avLst/>
          </a:prstGeom>
          <a:solidFill>
            <a:srgbClr val="00CEC9"/>
          </a:solidFill>
          <a:ln/>
        </p:spPr>
      </p:sp>
      <p:sp>
        <p:nvSpPr>
          <p:cNvPr id="32" name="Text 30"/>
          <p:cNvSpPr/>
          <p:nvPr/>
        </p:nvSpPr>
        <p:spPr>
          <a:xfrm>
            <a:off x="1097280" y="5596128"/>
            <a:ext cx="32004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EFE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QTI 蓝牙栈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389120" y="5596128"/>
            <a:ext cx="66751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HID sendReport 自动降级 + HOGP 手动开启引导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 / 14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B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828800"/>
          </a:xfrm>
          <a:prstGeom prst="rect">
            <a:avLst/>
          </a:prstGeom>
          <a:solidFill>
            <a:srgbClr val="7D7A70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0B0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代码质量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9090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Code Quality &amp; Security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51518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2194560"/>
            <a:ext cx="10515600" cy="566928"/>
          </a:xfrm>
          <a:prstGeom prst="roundRect">
            <a:avLst>
              <a:gd name="adj" fmla="val 12903"/>
            </a:avLst>
          </a:prstGeom>
          <a:solidFill>
            <a:srgbClr val="151518"/>
          </a:solidFill>
          <a:ln w="19050">
            <a:solidFill>
              <a:srgbClr val="E85D3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21284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5D3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配置管理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05840" y="24688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AppConfig 集中管理所有配置参数（端口、超时、重试次数）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31520" y="2852928"/>
            <a:ext cx="10515600" cy="566928"/>
          </a:xfrm>
          <a:prstGeom prst="roundRect">
            <a:avLst>
              <a:gd name="adj" fmla="val 12903"/>
            </a:avLst>
          </a:prstGeom>
          <a:solidFill>
            <a:srgbClr val="151518"/>
          </a:solidFill>
          <a:ln w="19050">
            <a:solidFill>
              <a:srgbClr val="5B8FB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871216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8FB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线程安全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05840" y="3127248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synchronized 锁 + @Volatile + 协程 Channel/Flow 通信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31520" y="3511296"/>
            <a:ext cx="10515600" cy="566928"/>
          </a:xfrm>
          <a:prstGeom prst="roundRect">
            <a:avLst>
              <a:gd name="adj" fmla="val 12903"/>
            </a:avLst>
          </a:prstGeom>
          <a:solidFill>
            <a:srgbClr val="151518"/>
          </a:solidFill>
          <a:ln w="19050">
            <a:solidFill>
              <a:srgbClr val="D4A8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3529584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85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资源管理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05840" y="3785616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所有网络连接、文件流、ADB 连接使用后正确关闭释放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4169664"/>
            <a:ext cx="10515600" cy="566928"/>
          </a:xfrm>
          <a:prstGeom prst="roundRect">
            <a:avLst>
              <a:gd name="adj" fmla="val 12903"/>
            </a:avLst>
          </a:prstGeom>
          <a:solidFill>
            <a:srgbClr val="151518"/>
          </a:solidFill>
          <a:ln w="19050">
            <a:solidFill>
              <a:srgbClr val="A78BF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0" y="4187952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78BF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安全性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05840" y="4443984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RSA 私钥仅应用可读写 · 输入验证防注入 · HTTPS 证书验证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4828032"/>
            <a:ext cx="10515600" cy="566928"/>
          </a:xfrm>
          <a:prstGeom prst="roundRect">
            <a:avLst>
              <a:gd name="adj" fmla="val 12903"/>
            </a:avLst>
          </a:prstGeom>
          <a:solidFill>
            <a:srgbClr val="151518"/>
          </a:solidFill>
          <a:ln w="19050">
            <a:solidFill>
              <a:srgbClr val="00CEC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5840" y="4846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CEC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错误处理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05840" y="5102352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try-catch 包裹 · BrewStateCard 用户友好提示 · 详细日志记录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31520" y="5486400"/>
            <a:ext cx="10515600" cy="566928"/>
          </a:xfrm>
          <a:prstGeom prst="roundRect">
            <a:avLst>
              <a:gd name="adj" fmla="val 12903"/>
            </a:avLst>
          </a:prstGeom>
          <a:solidFill>
            <a:srgbClr val="151518"/>
          </a:solidFill>
          <a:ln w="19050">
            <a:solidFill>
              <a:srgbClr val="FD79A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5504688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D79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性能优化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05840" y="57607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灰度转换整数运算 · Coil 图片缓存 · 协程异步避免主线程阻塞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 / 14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B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828800"/>
          </a:xfrm>
          <a:prstGeom prst="rect">
            <a:avLst/>
          </a:prstGeom>
          <a:solidFill>
            <a:srgbClr val="7D7A70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B0B0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国际化 &amp; 设置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9090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Internationalization &amp; Settings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151518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2103120"/>
            <a:ext cx="5486400" cy="3931920"/>
          </a:xfrm>
          <a:prstGeom prst="roundRect">
            <a:avLst>
              <a:gd name="adj" fmla="val 2791"/>
            </a:avLst>
          </a:prstGeom>
          <a:solidFill>
            <a:srgbClr val="151518"/>
          </a:solidFill>
          <a:ln w="12700">
            <a:solidFill>
              <a:srgbClr val="5B8FB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2402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8FB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多语言支持 (i18n)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2697480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• 完整中英文支持（values/ + values-en/）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3044952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• 运行时语言切换，无需重启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3392424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• 首次启动自动检测系统语言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3739896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• Crowdin 云端翻译管理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31520" y="4087368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• 所有 UI 文字通过 R.string 引用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31520" y="4434840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• 底部导航标签随语言切换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4782312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• 22 种分类标签中英文本地化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103120"/>
            <a:ext cx="5486400" cy="3931920"/>
          </a:xfrm>
          <a:prstGeom prst="roundRect">
            <a:avLst>
              <a:gd name="adj" fmla="val 2791"/>
            </a:avLst>
          </a:prstGeom>
          <a:solidFill>
            <a:srgbClr val="151518"/>
          </a:solidFill>
          <a:ln w="12700">
            <a:solidFill>
              <a:srgbClr val="7D7A7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22402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D7A7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设置 &amp; 配置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92240" y="2697480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• 双主题切换（丝绒炭黑 + 冰蓝冰川）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92240" y="3044952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• 商店源切换（Gitee / GitHub）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92240" y="3392424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• 眼镜端 RokidLink 服务管理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92240" y="3739896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• 应用版本检查与更新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4087368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• 主机应用选择与引导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492240" y="4434840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• 自定义按键映射配置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92240" y="4782312"/>
            <a:ext cx="5029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• 系统日志面板（实时调试）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 / 14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B0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51518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E85D3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Thank You</a:t>
            </a:r>
            <a:endParaRPr lang="en-US" sz="6400" dirty="0"/>
          </a:p>
        </p:txBody>
      </p:sp>
      <p:sp>
        <p:nvSpPr>
          <p:cNvPr id="4" name="Shape 2"/>
          <p:cNvSpPr/>
          <p:nvPr/>
        </p:nvSpPr>
        <p:spPr>
          <a:xfrm>
            <a:off x="731520" y="2926080"/>
            <a:ext cx="2743200" cy="54864"/>
          </a:xfrm>
          <a:prstGeom prst="rect">
            <a:avLst/>
          </a:prstGeom>
          <a:solidFill>
            <a:srgbClr val="5B8FB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4D0C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RokidLab — Rokid 眼镜配套手机应用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8FB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https://gitee.com/dlover1314/RokidLab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45720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作者: DLOVER  |  爱发电: https://ifdian.net/a/rokidlab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972800" y="6400800"/>
            <a:ext cx="914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78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14 / 14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2026-07-03T03:42:35Z</dcterms:created>
  <dcterms:modified xsi:type="dcterms:W3CDTF">2026-07-03T03:42:35Z</dcterms:modified>
</cp:coreProperties>
</file>